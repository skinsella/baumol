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Services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130</c:v>
                </c:pt>
                <c:pt idx="2">
                  <c:v>158</c:v>
                </c:pt>
                <c:pt idx="3">
                  <c:v>174</c:v>
                </c:pt>
                <c:pt idx="4">
                  <c:v>192</c:v>
                </c:pt>
                <c:pt idx="5">
                  <c:v>224</c:v>
                </c:pt>
              </c:numCache>
            </c:numRef>
          </c:val>
          <c:smooth val="0"/>
          <c:spPr>
            <a:ln w="50800">
              <a:solidFill>
                <a:srgbClr val="C0462E"/>
              </a:solidFill>
            </a:ln>
          </c:spP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Goods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105</c:v>
                </c:pt>
                <c:pt idx="2">
                  <c:v>112</c:v>
                </c:pt>
                <c:pt idx="3">
                  <c:v>110</c:v>
                </c:pt>
                <c:pt idx="4">
                  <c:v>116</c:v>
                </c:pt>
                <c:pt idx="5">
                  <c:v>123</c:v>
                </c:pt>
              </c:numCache>
            </c:numRef>
          </c:val>
          <c:smooth val="0"/>
          <c:spPr>
            <a:ln w="38100">
              <a:solidFill>
                <a:srgbClr val="0A1F44"/>
              </a:solidFill>
            </a:ln>
          </c:spP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UK</c:v>
                </c:pt>
                <c:pt idx="1">
                  <c:v>SE</c:v>
                </c:pt>
                <c:pt idx="2">
                  <c:v>FR</c:v>
                </c:pt>
                <c:pt idx="3">
                  <c:v>DE</c:v>
                </c:pt>
                <c:pt idx="4">
                  <c:v>IE</c:v>
                </c:pt>
                <c:pt idx="5">
                  <c:v>IT</c:v>
                </c:pt>
                <c:pt idx="6">
                  <c:v>SI</c:v>
                </c:pt>
                <c:pt idx="7">
                  <c:v>ES</c:v>
                </c:pt>
                <c:pt idx="8">
                  <c:v>BE</c:v>
                </c:pt>
                <c:pt idx="9">
                  <c:v>FI</c:v>
                </c:pt>
                <c:pt idx="10">
                  <c:v>NL</c:v>
                </c:pt>
                <c:pt idx="11">
                  <c:v>EE</c:v>
                </c:pt>
                <c:pt idx="12">
                  <c:v>EL</c:v>
                </c:pt>
                <c:pt idx="13">
                  <c:v>SK</c:v>
                </c:pt>
                <c:pt idx="14">
                  <c:v>AT</c:v>
                </c:pt>
                <c:pt idx="15">
                  <c:v>DK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-0.635</c:v>
                </c:pt>
                <c:pt idx="1">
                  <c:v>-0.534</c:v>
                </c:pt>
                <c:pt idx="2">
                  <c:v>-0.524</c:v>
                </c:pt>
                <c:pt idx="3">
                  <c:v>-0.419</c:v>
                </c:pt>
                <c:pt idx="4">
                  <c:v>-0.393</c:v>
                </c:pt>
                <c:pt idx="5">
                  <c:v>-0.389</c:v>
                </c:pt>
                <c:pt idx="6">
                  <c:v>-0.363</c:v>
                </c:pt>
                <c:pt idx="7">
                  <c:v>-0.337</c:v>
                </c:pt>
                <c:pt idx="8">
                  <c:v>-0.327</c:v>
                </c:pt>
                <c:pt idx="9">
                  <c:v>-0.302</c:v>
                </c:pt>
                <c:pt idx="10">
                  <c:v>-0.277</c:v>
                </c:pt>
                <c:pt idx="11">
                  <c:v>-0.213</c:v>
                </c:pt>
                <c:pt idx="12">
                  <c:v>-0.169</c:v>
                </c:pt>
                <c:pt idx="13">
                  <c:v>-0.145</c:v>
                </c:pt>
                <c:pt idx="14">
                  <c:v>-0.128</c:v>
                </c:pt>
                <c:pt idx="15">
                  <c:v>0.025</c:v>
                </c:pt>
              </c:numCache>
            </c:numRef>
          </c:val>
          <c:dPt>
            <c:idx val="0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1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2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3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4"/>
            <c:invertIfNegative val="0"/>
            <c:bubble3D val="0"/>
            <c:spPr>
              <a:solidFill>
                <a:srgbClr val="C0462E"/>
              </a:solidFill>
            </c:spPr>
          </c:dPt>
          <c:dPt>
            <c:idx val="5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6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7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8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9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10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11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12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13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14"/>
            <c:invertIfNegative val="0"/>
            <c:bubble3D val="0"/>
            <c:spPr>
              <a:solidFill>
                <a:srgbClr val="0A1F44"/>
              </a:solidFill>
            </c:spPr>
          </c:dPt>
          <c:dPt>
            <c:idx val="15"/>
            <c:invertIfNegative val="0"/>
            <c:bubble3D val="0"/>
            <c:spPr>
              <a:solidFill>
                <a:srgbClr val="0A1F44"/>
              </a:solidFill>
            </c:spPr>
          </c:dPt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Excess PLI %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Hospital services</c:v>
                </c:pt>
                <c:pt idx="1">
                  <c:v>Health</c:v>
                </c:pt>
                <c:pt idx="2">
                  <c:v>Restaurants &amp; hotels</c:v>
                </c:pt>
                <c:pt idx="3">
                  <c:v>Government services</c:v>
                </c:pt>
                <c:pt idx="4">
                  <c:v>Total services</c:v>
                </c:pt>
                <c:pt idx="5">
                  <c:v>All goods &amp; services</c:v>
                </c:pt>
                <c:pt idx="6">
                  <c:v>Transport (cars+fuel)</c:v>
                </c:pt>
                <c:pt idx="7">
                  <c:v>Education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</c:v>
                </c:pt>
                <c:pt idx="1">
                  <c:v>25</c:v>
                </c:pt>
                <c:pt idx="2">
                  <c:v>6</c:v>
                </c:pt>
                <c:pt idx="3">
                  <c:v>2</c:v>
                </c:pt>
                <c:pt idx="4">
                  <c:v>10</c:v>
                </c:pt>
                <c:pt idx="5">
                  <c:v>12</c:v>
                </c:pt>
                <c:pt idx="6">
                  <c:v>-1</c:v>
                </c:pt>
                <c:pt idx="7">
                  <c:v>-21</c:v>
                </c:pt>
              </c:numCache>
            </c:numRef>
          </c:val>
          <c:dPt>
            <c:idx val="0"/>
            <c:invertIfNegative val="0"/>
            <c:bubble3D val="0"/>
            <c:spPr>
              <a:solidFill>
                <a:srgbClr val="C0462E"/>
              </a:solidFill>
            </c:spPr>
          </c:dPt>
          <c:dPt>
            <c:idx val="1"/>
            <c:invertIfNegative val="0"/>
            <c:bubble3D val="0"/>
            <c:spPr>
              <a:solidFill>
                <a:srgbClr val="C0462E"/>
              </a:solidFill>
            </c:spPr>
          </c:dPt>
          <c:dPt>
            <c:idx val="2"/>
            <c:invertIfNegative val="0"/>
            <c:bubble3D val="0"/>
            <c:spPr>
              <a:solidFill>
                <a:srgbClr val="6E8CC6"/>
              </a:solidFill>
            </c:spPr>
          </c:dPt>
          <c:dPt>
            <c:idx val="3"/>
            <c:invertIfNegative val="0"/>
            <c:bubble3D val="0"/>
            <c:spPr>
              <a:solidFill>
                <a:srgbClr val="6E8CC6"/>
              </a:solidFill>
            </c:spPr>
          </c:dPt>
          <c:dPt>
            <c:idx val="4"/>
            <c:invertIfNegative val="0"/>
            <c:bubble3D val="0"/>
            <c:spPr>
              <a:solidFill>
                <a:srgbClr val="999999"/>
              </a:solidFill>
            </c:spPr>
          </c:dPt>
          <c:dPt>
            <c:idx val="5"/>
            <c:invertIfNegative val="0"/>
            <c:bubble3D val="0"/>
            <c:spPr>
              <a:solidFill>
                <a:srgbClr val="999999"/>
              </a:solidFill>
            </c:spPr>
          </c:dPt>
          <c:dPt>
            <c:idx val="6"/>
            <c:invertIfNegative val="0"/>
            <c:bubble3D val="0"/>
            <c:spPr>
              <a:solidFill>
                <a:srgbClr val="999999"/>
              </a:solidFill>
            </c:spPr>
          </c:dPt>
          <c:dPt>
            <c:idx val="7"/>
            <c:invertIfNegative val="0"/>
            <c:bubble3D val="0"/>
            <c:spPr>
              <a:solidFill>
                <a:srgbClr val="6E8CC6"/>
              </a:solidFill>
            </c:spPr>
          </c:dPt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Georgia"/>
              </a:rPr>
              <a:t>Why Irish services keep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Georgia"/>
              </a:rPr>
              <a:t>getting more expensive —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Georgia"/>
              </a:rPr>
              <a:t>and what to do about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3484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C5D3EA"/>
                </a:solidFill>
                <a:latin typeface="Calibri Light"/>
              </a:rPr>
              <a:t>A briefing for the Tánaiste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486400"/>
            <a:ext cx="914400" cy="36576"/>
          </a:xfrm>
          <a:prstGeom prst="rect">
            <a:avLst/>
          </a:prstGeom>
          <a:solidFill>
            <a:srgbClr val="C5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6235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Stephen Kinsella · Department of Economics · University of Limerick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5D3EA"/>
                </a:solidFill>
                <a:latin typeface="Calibri"/>
              </a:rPr>
              <a:t>May 2026 · live at baumol.stephenkinsella.net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583680"/>
            <a:ext cx="11247120" cy="18288"/>
          </a:xfrm>
          <a:prstGeom prst="rect">
            <a:avLst/>
          </a:prstGeom>
          <a:solidFill>
            <a:srgbClr val="C0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462E"/>
                </a:solidFill>
                <a:latin typeface="Calibri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1F44"/>
                </a:solidFill>
                <a:latin typeface="Georgia"/>
              </a:rPr>
              <a:t>Two stories — different answers, different policy responses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5661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457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914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A1F44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017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A1F44"/>
                </a:solidFill>
                <a:latin typeface="Georgia"/>
              </a:rPr>
              <a:t>The price wedge is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0175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Service prices in Ireland are up about 124% since 2000; goods prices about 23%. The same pattern holds across most advanced European economies.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661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566160" cy="457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914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A1F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017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A1F44"/>
                </a:solidFill>
                <a:latin typeface="Georgia"/>
              </a:rPr>
              <a:t>But it's not Irish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20440"/>
            <a:ext cx="30175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12 of 16 European countries show the same Baumol cost-disease pattern. Ireland ranks 5th — middle of the pack, not an outlier.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5661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566160" cy="45720"/>
          </a:xfrm>
          <a:prstGeom prst="rect">
            <a:avLst/>
          </a:prstGeom>
          <a:solidFill>
            <a:srgbClr val="C0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57400"/>
            <a:ext cx="914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C0462E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43200"/>
            <a:ext cx="3017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A1F44"/>
                </a:solidFill>
                <a:latin typeface="Georgia"/>
              </a:rPr>
              <a:t>Where the State buys, it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30175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But where the State is the dominant buyer (asylum hotels, agency clinical staff), Irish costs are 20–30% above what wage levels predict — a peer-country gap that is institutional, not mechanical.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Calibri"/>
              </a:rPr>
              <a:t>These two findings need different policy responses. The rest of this deck shows the evidence and the recommendations.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Tánaiste briefing · Baumol vs Failure Premium · S. Kinsella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462E"/>
                </a:solidFill>
                <a:latin typeface="Calibri"/>
              </a:rPr>
              <a:t>The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44"/>
                </a:solidFill>
                <a:latin typeface="Georgia"/>
              </a:rPr>
              <a:t>Service prices have outpaced goods prices by an enormous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555"/>
                </a:solidFill>
                <a:latin typeface="Calibri"/>
              </a:rPr>
              <a:t>Eurostat HICP, Ireland, 2000 = 100.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6576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C0462E"/>
                </a:solidFill>
                <a:latin typeface="Georgia"/>
              </a:rPr>
              <a:t>+124%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Services prices since 2000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3657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1" i="0">
                <a:solidFill>
                  <a:srgbClr val="0A1F44"/>
                </a:solidFill>
                <a:latin typeface="Georgia"/>
              </a:rPr>
              <a:t>+23%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Goods prices since 2000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754880" y="2194560"/>
          <a:ext cx="69494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555"/>
                </a:solidFill>
                <a:latin typeface="Calibri"/>
              </a:rPr>
              <a:t>Source: Eurostat prc_hicp_midx, COICOP 'Goods' and 'Services'.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Tánaiste briefing · Baumol vs Failure Premium · S. Kinsella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462E"/>
                </a:solidFill>
                <a:latin typeface="Calibri"/>
              </a:rPr>
              <a:t>Two competing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44"/>
                </a:solidFill>
                <a:latin typeface="Georgia"/>
              </a:rPr>
              <a:t>The slope, the intercept, and why the distinction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486400" cy="457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44"/>
                </a:solidFill>
                <a:latin typeface="Calibri"/>
              </a:rPr>
              <a:t>STORY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F44"/>
                </a:solidFill>
                <a:latin typeface="Georgia"/>
              </a:rPr>
              <a:t>Baumol's cost disease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555"/>
                </a:solidFill>
                <a:latin typeface="Calibri"/>
              </a:rPr>
              <a:t>Mechanical, universal, predictable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512064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Wages have to rise across the economy as productivity grows in fast sectors. In slow-productivity sectors (health, education, hospitality) that wage growth isn't matched by productivity gains, so unit costs rise and prices follow.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Predicts: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the SLOPE — services drift up faster than goods, in every advanced economy.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Verifiable in Ireland: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yes (12 of 16 EU countries match the pattern; Ireland mid-pack).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486400" cy="45720"/>
          </a:xfrm>
          <a:prstGeom prst="rect">
            <a:avLst/>
          </a:prstGeom>
          <a:solidFill>
            <a:srgbClr val="C0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0462E"/>
                </a:solidFill>
                <a:latin typeface="Calibri"/>
              </a:rPr>
              <a:t>STORY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120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F44"/>
                </a:solidFill>
                <a:latin typeface="Georgia"/>
              </a:rPr>
              <a:t>Failure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2608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555"/>
                </a:solidFill>
                <a:latin typeface="Calibri"/>
              </a:rPr>
              <a:t>Institutional, country-specific, fixable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37560"/>
            <a:ext cx="512064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When the State has no in-house production capacity in a domain, it enters the market as a buyer under time pressure and accepts whatever price clears. Suppliers in thin, constrained markets capture the margin.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Predicts: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the INTERCEPT — Irish unit costs sit above peer-country benchmarks even after wage adjustment, in domains where the State outsources rather than provides.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Verifiable in Ireland: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yes for state-procured services (PLI 30% above predicted; 22pp differential to private market).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0A1F44"/>
                </a:solidFill>
                <a:latin typeface="Calibri"/>
              </a:rPr>
              <a:t>Both stories can be true simultaneously. They are about different things.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Tánaiste briefing · Baumol vs Failure Premium · S. Kinsella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462E"/>
                </a:solidFill>
                <a:latin typeface="Calibri"/>
              </a:rPr>
              <a:t>Story 1 —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44"/>
                </a:solidFill>
                <a:latin typeface="Georgia"/>
              </a:rPr>
              <a:t>Baumol is the European norm. Ireland is mid-pack.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555555"/>
                </a:solidFill>
                <a:latin typeface="Calibri"/>
              </a:rPr>
              <a:t>Price-on-productivity coefficient by country, 1997–2021. Negative coefficient = sectors that fell behind on productivity saw faster price growth.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331720"/>
          <a:ext cx="7772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2468880"/>
            <a:ext cx="32004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C0462E"/>
                </a:solidFill>
                <a:latin typeface="Georgia"/>
              </a:rPr>
              <a:t>12 of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3520440"/>
            <a:ext cx="32004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European countries show the same Baumol price-disease pattern. Statistically significant. Not Irish-specific.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512064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F44"/>
                </a:solidFill>
                <a:latin typeface="Calibri"/>
              </a:rPr>
              <a:t>Ireland: rank 5 of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548640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55555"/>
                </a:solidFill>
                <a:latin typeface="Calibri"/>
              </a:rPr>
              <a:t>β = −0.393 (HC3 SE 0.144, p = 0.006).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555"/>
                </a:solidFill>
                <a:latin typeface="Calibri"/>
              </a:rPr>
              <a:t>Source: EU KLEMS &amp; INTANProd Release 2023; replication of Hennessy, Lawless &amp; O'Connor (Department of Finance / ESRI, January 2026).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Tánaiste briefing · Baumol vs Failure Premium · S. Kinsella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462E"/>
                </a:solidFill>
                <a:latin typeface="Calibri"/>
              </a:rPr>
              <a:t>Story 2 —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44"/>
                </a:solidFill>
                <a:latin typeface="Georgia"/>
              </a:rPr>
              <a:t>But where the State is the dominant buyer, Ireland IS an outlier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555555"/>
                </a:solidFill>
                <a:latin typeface="Calibri"/>
              </a:rPr>
              <a:t>Eurostat Price Level Indices, 2024. PLI = 100 means EU27 average. Excess = Ireland's PLI minus what its overall wage level alone would predict.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286000"/>
          <a:ext cx="7772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2468880"/>
            <a:ext cx="32004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C0462E"/>
                </a:solidFill>
                <a:latin typeface="Georgia"/>
              </a:rPr>
              <a:t>+30%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3520440"/>
            <a:ext cx="32004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above predicted in heavy-State-pricing categories — vs +8% in private-market categories.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502920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1F44"/>
                </a:solidFill>
                <a:latin typeface="Georgia"/>
              </a:rPr>
              <a:t>22 percentage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548640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differential. This is the failure-premium signature.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555"/>
                </a:solidFill>
                <a:latin typeface="Calibri"/>
              </a:rPr>
              <a:t>Source: Eurostat prc_ppp_ind, 2024. Education sits BELOW predicted (~ −21%) — consistent with Ireland's mostly-direct state provision in education.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Tánaiste briefing · Baumol vs Failure Premium · S. Kinsella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462E"/>
                </a:solidFill>
                <a:latin typeface="Calibri"/>
              </a:rPr>
              <a:t>Case 1 — hotels and restaurants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44"/>
                </a:solidFill>
                <a:latin typeface="Georgia"/>
              </a:rPr>
              <a:t>The headline 27% rise is real. It is also European-wide.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657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91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1" i="0">
                <a:solidFill>
                  <a:srgbClr val="0A1F44"/>
                </a:solidFill>
                <a:latin typeface="Georgia"/>
              </a:rPr>
              <a:t>+29.8%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Ireland HICP CP11, 2019 →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920240"/>
            <a:ext cx="3657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291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1" i="0">
                <a:solidFill>
                  <a:srgbClr val="0A1F44"/>
                </a:solidFill>
                <a:latin typeface="Georgia"/>
              </a:rPr>
              <a:t>+28.8%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01752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Euro area HICP CP11, 2019 →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920240"/>
            <a:ext cx="3657600" cy="1463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291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1" i="0">
                <a:solidFill>
                  <a:srgbClr val="C0462E"/>
                </a:solidFill>
                <a:latin typeface="Georgia"/>
              </a:rPr>
              <a:t>+0.9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01752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5F1E8"/>
                </a:solidFill>
                <a:latin typeface="Calibri"/>
              </a:rPr>
              <a:t>Irish excess. Trivially small.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1F44"/>
                </a:solidFill>
                <a:latin typeface="Georgia"/>
              </a:rPr>
              <a:t>Where the cumulative price rise comes from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1124712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0A1F44"/>
                </a:solidFill>
                <a:latin typeface="Calibri"/>
              </a:rPr>
              <a:t>Wage passthrough: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10–14 pp (about 41% of total at midpoint cost share). Sector-I hourly labour cost rose 35% over the same period.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0A1F44"/>
                </a:solidFill>
                <a:latin typeface="Calibri"/>
              </a:rPr>
              <a:t>Residual: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16–19 pp. Food, energy, fuel passthrough; post-COVID demand recovery; small IPAS-induced supply withdrawal.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C0462E"/>
                </a:solidFill>
                <a:latin typeface="Calibri"/>
              </a:rPr>
              <a:t>Bottom line: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the 27% headline is correct but the causal attribution to either Baumol or failure premium is overstated. Most of the rise is European-wide input-cost passthrough.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555"/>
                </a:solidFill>
                <a:latin typeface="Calibri"/>
              </a:rPr>
              <a:t>Source: Eurostat prc_hicp_midx (CP11) IE and EA20; CSO EHQ03 sector I; 30–40% wage cost share assumption.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Tánaiste briefing · Baumol vs Failure Premium · S. Kinsella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462E"/>
                </a:solidFill>
                <a:latin typeface="Calibri"/>
              </a:rPr>
              <a:t>Case 2 —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44"/>
                </a:solidFill>
                <a:latin typeface="Georgia"/>
              </a:rPr>
              <a:t>The healthcare cost gap IS Irish — and IS institutional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657600" cy="45720"/>
          </a:xfrm>
          <a:prstGeom prst="rect">
            <a:avLst/>
          </a:prstGeom>
          <a:solidFill>
            <a:srgbClr val="C0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918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1" i="0">
                <a:solidFill>
                  <a:srgbClr val="C0462E"/>
                </a:solidFill>
                <a:latin typeface="Georgia"/>
              </a:rPr>
              <a:t>PLI 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3291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Ireland health PLI in 2024 — rank 1 of 18 European countries.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657600" cy="45720"/>
          </a:xfrm>
          <a:prstGeom prst="rect">
            <a:avLst/>
          </a:prstGeom>
          <a:solidFill>
            <a:srgbClr val="C0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2918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1" i="0">
                <a:solidFill>
                  <a:srgbClr val="C0462E"/>
                </a:solidFill>
                <a:latin typeface="Georgia"/>
              </a:rPr>
              <a:t>PLI 219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71800"/>
            <a:ext cx="3291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Hospital services — rank 3 of 18. NL, DK, SE sit closer to or below the 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657600" cy="45720"/>
          </a:xfrm>
          <a:prstGeom prst="rect">
            <a:avLst/>
          </a:prstGeom>
          <a:solidFill>
            <a:srgbClr val="C0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918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C0462E"/>
                </a:solidFill>
                <a:latin typeface="Georgia"/>
              </a:rPr>
              <a:t>1.7 – 2.8×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71800"/>
            <a:ext cx="3291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HSE agency nurse cost vs permanent fully-loaded. Basic 1.7–2.0×; premium shifts 2.2–2.8×.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690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1F44"/>
                </a:solidFill>
                <a:latin typeface="Georgia"/>
              </a:rPr>
              <a:t>Why this is institutional, not Baumol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Baumol's mechanism would predict equal wage growth across sectors. Agency nurses earn close to permanent scales — the wedge is captured by agency margins and shift premia, not by the worker.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The pattern is not unique to Ireland but is most acute here. It reflects the State's repeated choice to outsource clinical staffing rather than expand permanent HSE headcount.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0A1F44"/>
                </a:solidFill>
                <a:latin typeface="Calibri"/>
              </a:rPr>
              <a:t>Closing the gap is not productivity policy. It is procurement reform plus permanent-headcount expansion.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555"/>
                </a:solidFill>
                <a:latin typeface="Calibri"/>
              </a:rPr>
              <a:t>Sources: Eurostat prc_ppp_ind (PLI 2024); CSO EHQ03 sector Q latest €34.20/hr; HSE framework rates published in Dáil PQs.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Tánaiste briefing · Baumol vs Failure Premium · S. Kinsella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462E"/>
                </a:solidFill>
                <a:latin typeface="Calibri"/>
              </a:rPr>
              <a:t>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A1F44"/>
                </a:solidFill>
                <a:latin typeface="Georgia"/>
              </a:rPr>
              <a:t>Two policy levers, not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55555"/>
                </a:solidFill>
                <a:latin typeface="Calibri"/>
              </a:rPr>
              <a:t>Different mechanisms need different responses. The two levers are complementary, not substitutes.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4864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45720" cy="41605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44"/>
                </a:solidFill>
                <a:latin typeface="Calibri"/>
              </a:rPr>
              <a:t>LEVER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937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F44"/>
                </a:solidFill>
                <a:latin typeface="Georgia"/>
              </a:rPr>
              <a:t>Productivity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555"/>
                </a:solidFill>
                <a:latin typeface="Calibri"/>
              </a:rPr>
              <a:t>Slows the slope.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493776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Investment in healthcare productivity (digital systems, workforce planning, scope of practice).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Investment in education productivity (technology, teacher development).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Tolerance of relative-price drift as the cost of being a high-income economy.</a:t>
            </a:r>
          </a:p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555555"/>
                </a:solidFill>
                <a:latin typeface="Calibri"/>
              </a:rPr>
              <a:t>• Will not eliminate the price wedge — will slow how fast it widens.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94560"/>
            <a:ext cx="54864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94560"/>
            <a:ext cx="45720" cy="4160520"/>
          </a:xfrm>
          <a:prstGeom prst="rect">
            <a:avLst/>
          </a:prstGeom>
          <a:solidFill>
            <a:srgbClr val="C0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3774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0462E"/>
                </a:solidFill>
                <a:latin typeface="Calibri"/>
              </a:rPr>
              <a:t>LEVER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697480"/>
            <a:ext cx="49377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0A1F44"/>
                </a:solidFill>
                <a:latin typeface="Georgia"/>
              </a:rPr>
              <a:t>Procurement reform + state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70332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555"/>
                </a:solidFill>
                <a:latin typeface="Calibri"/>
              </a:rPr>
              <a:t>Lowers the intercept.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114800"/>
            <a:ext cx="493776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State-built asylum reception capacity — eliminate the IPAS hotel margin.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Permanent HSE headcount expansion (agency wedge ~€15–25/hr).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Direct provision where State demand dominates a thin market.</a:t>
            </a:r>
          </a:p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555555"/>
                </a:solidFill>
                <a:latin typeface="Calibri"/>
              </a:rPr>
              <a:t>• Closes the country-specific premium, not the slope.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Tánaiste briefing · Baumol vs Failure Premium · S. Kinsella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462E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A1F44"/>
                </a:solidFill>
                <a:latin typeface="Georgia"/>
              </a:rPr>
              <a:t>Four moves the data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5486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200" b="1" i="0">
                <a:solidFill>
                  <a:srgbClr val="C0462E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44"/>
                </a:solidFill>
                <a:latin typeface="Calibri"/>
              </a:rPr>
              <a:t>HOUSING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Cap real growth in HAP and shift the marginal euro to direct supply. HAP is a demand subsidy that pays the market-clearing rent — the data are clear that the institutional gap in Irish housing supply is on the supply side, not on value-for-money on HAP.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39"/>
            <a:ext cx="5486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200" b="1" i="0">
                <a:solidFill>
                  <a:srgbClr val="C0462E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39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44"/>
                </a:solidFill>
                <a:latin typeface="Calibri"/>
              </a:rPr>
              <a:t>ASYLUM RECEPTION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79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Invest in state-built reception capacity within 24 months; eliminate IPAS hotel contracts as supply becomes available. The Netherlands COA model delivers reception at materially lower per-bed-day cost; the gap is too large to be wage-explained.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59"/>
            <a:ext cx="5486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200" b="1" i="0">
                <a:solidFill>
                  <a:srgbClr val="C0462E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59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44"/>
                </a:solidFill>
                <a:latin typeface="Calibri"/>
              </a:rPr>
              <a:t>HEALTHCARE STAFFING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Multi-year permanent HSE headcount expansion to break the agency-dependence cycle. Agency wedge of €15–25/hour × estimated 8–10 million agency hours/year is on the order of €200m annual recurring opportunity. This is procurement reform, not pay reform.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486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200" b="1" i="0">
                <a:solidFill>
                  <a:srgbClr val="C0462E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44"/>
                </a:solidFill>
                <a:latin typeface="Calibri"/>
              </a:rPr>
              <a:t>PRODUCTIVITY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Targeted, measured investment in non-traded service productivity — digital health, education tech, public-sector workflow modernisation. Accept that nominal services prices will continue to outpace goods. The goal is to slow, not reverse, the drift.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Tánaiste briefing · Baumol vs Failure Premium · S. Kinsella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5F1E8"/>
                </a:solidFill>
                <a:latin typeface="Georgia"/>
              </a:rPr>
              <a:t>Where to go for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C5D3EA"/>
                </a:solidFill>
                <a:latin typeface="Calibri"/>
              </a:rPr>
              <a:t>Every number in this deck is verifiable from public sources and is recomputed weekly on the live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1E8"/>
                </a:solidFill>
                <a:latin typeface="Georgia"/>
              </a:rPr>
              <a:t>baumol.stephenkinsella.net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5D3EA"/>
                </a:solidFill>
                <a:latin typeface="Calibri"/>
              </a:rPr>
              <a:t>Live data and audit log of every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5F1E8"/>
                </a:solidFill>
                <a:latin typeface="Calibri"/>
              </a:rPr>
              <a:t>github.com/skinsella/baumol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5D3EA"/>
                </a:solidFill>
                <a:latin typeface="Calibri"/>
              </a:rPr>
              <a:t>Full source code, every regression, every dataset wired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5D3EA"/>
                </a:solidFill>
                <a:latin typeface="Calibri"/>
              </a:rPr>
              <a:t>Sources: CSO PxStat, Eurostat (HICP, PLI, LFS), EU KLEMS &amp; INTANProd (Luiss Lab Release 2023), Department of Finance / ESRI Joint Research Programme paper (January 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F5F1E8"/>
                </a:solidFill>
                <a:latin typeface="Calibri"/>
              </a:rPr>
              <a:t>Stephen Kinsella · University of Limerick · May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675120"/>
            <a:ext cx="11247120" cy="18288"/>
          </a:xfrm>
          <a:prstGeom prst="rect">
            <a:avLst/>
          </a:prstGeom>
          <a:solidFill>
            <a:srgbClr val="C04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